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235A"/>
    <a:srgbClr val="782841"/>
    <a:srgbClr val="E03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1DE11-E1F0-5DD5-73DF-6342C5E6E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E35FA9-FA19-F3E3-2756-D6DC282B8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8BB7D2-324D-CDB4-0428-8DE86287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742283-8ED3-1BF7-A203-1F74A4F3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02A4FD-A079-F20F-E3BF-AA334842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72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A2858-06C6-4580-B0BE-5999D2E6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5182B-85AD-0FDE-1B1B-8E0657EDC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E3C51-350E-C68F-453A-A3585D31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7FAE4B-273E-52DD-0391-CB73EA14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10225-84C5-4D5D-483A-3E5D55A0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11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89224-3E95-99DF-FB87-0ABD3059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874F3D-DF05-C524-6230-01DA050DD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418DF0-9591-F785-1587-5DDE4BBC7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8991F0-7466-8C31-843C-F47548DB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BB7B35-83DE-49F4-8BFA-26403D93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8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BFAC9-317C-4279-D6A5-737D6496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9F33C1-A6C9-DD20-B23A-97746A881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2ECA33-735C-1BB8-6F56-7C4FFEDDC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1D7226-D8A5-A047-5BDB-D23FA2F4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C56D5E-206C-1ADC-6F58-115301C2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4D9F63-45E1-7CB3-E43F-DF1DA771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28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80052-E4C5-FD2C-C91C-6D641943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687FB5-71C8-9E89-CE54-A5E3463CB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622913-4B04-6156-CB0E-62835A745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E50226-C413-218C-52D4-8847EA98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0A10FB-7ABB-8B0C-410F-8C281A81A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7A2D7B-4EF7-2286-DBDF-6FC6AB3E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3478D8-35E9-1CDE-A7E5-CE641486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AB9712-DB77-C0F9-FB6B-38F5DEB9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83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5D906-82DF-8430-407B-259209D7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98D311-D267-46E6-61A1-FB70FC2B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EFDB43-1936-AD89-0CFC-1C4F5F3B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29645E-2C44-263A-4F48-27B88917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99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88FD5-F5EF-A946-AF26-4CD312DD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829F9D-8350-2E73-5B49-38F2BCD2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E9A3F5-89C2-5E26-D0B2-EAEF5ECE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20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976FD-2E5B-66D6-2199-F13ECA0C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9482F6-C39B-547C-D54B-DFB15945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4E585F-A8A0-9E33-5871-01F64E484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BF380C-6652-F086-2A52-9FB78B96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FDB51F-72F7-E97A-4D0F-D3D39CA7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E7060E-8FE3-B1C3-4792-5F718213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5007F-1C92-8AB7-E981-B067C82E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ADF9C9-F6DA-88AE-E67F-8E812AF034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61C98F-DC0F-4FF8-4267-BA31218F6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C72911-E305-6DB6-4E52-5B0E28E7B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070621-FC89-5583-C970-3729E73E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69FC31-B3AD-E9B9-1E38-3065B341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03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B57C-2856-32EA-FAF5-EA23D149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A8711F-F7A4-8B98-AEA7-0B930365B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82C42C-8D61-9530-25A5-8C67AFE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E3C741-8A14-A1CE-72D5-0D42D1B1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52E4E6-A879-6514-F4C5-CE0FA104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49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C3947B-B2F5-4B9A-D348-AF87D6712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A91F25-FB0D-6E2B-28A6-0BEBBBE34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1D8899-AE99-E496-5B8F-7F754D97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E56B3-9F2B-CC85-E668-661BA674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5E7A73-72EA-E48B-665E-9C0F71D8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8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BB14C-1172-1541-D55C-86BA2986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C8E0E3-0A5C-3C04-725B-DAC854A7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6FDB18-B60C-13D3-06FE-2E9DFE359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033FB-AB3A-4823-817C-06857A987BB3}" type="datetimeFigureOut">
              <a:rPr lang="ru-RU" smtClean="0"/>
              <a:t>30.10.26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580B0E-9548-A26E-9937-DAE88791D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F5E832-0DC0-69C5-D27B-C42BD83A4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C9446-C3DD-4191-B3C1-24097D1FA8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50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z-19-shkola-tancev-ritm-holl-liart.vercel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rinkoMaria/tz-19-shkola-tancev-ritm-ho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D3CDB-78D5-F2E4-9C59-E5012A0516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BE235A"/>
                </a:solidFill>
              </a:rPr>
              <a:t>Сайт и сквозная аналитика записей для школы танцев «Ритм Холл»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84AE74-7BB1-BEDB-A01A-20E1D070B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ТЗ № ТЗ-19/2026</a:t>
            </a:r>
          </a:p>
        </p:txBody>
      </p:sp>
    </p:spTree>
    <p:extLst>
      <p:ext uri="{BB962C8B-B14F-4D97-AF65-F5344CB8AC3E}">
        <p14:creationId xmlns:p14="http://schemas.microsoft.com/office/powerpoint/2010/main" val="371706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9ABED-132E-DD1E-B76B-CA5E78E4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С чем столкнулась школа?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235158-170C-A3FA-7DBD-C1A29FFFC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260 вопросов о выборе направления в сентябре.</a:t>
            </a:r>
          </a:p>
          <a:p>
            <a:r>
              <a:rPr lang="ru-RU" dirty="0"/>
              <a:t>120 записались на пробное, пришли — 84, купили абонемент — 47.</a:t>
            </a:r>
          </a:p>
          <a:p>
            <a:r>
              <a:rPr lang="ru-RU" dirty="0"/>
              <a:t>Администраторы тратили много времени на ручные ответы в соцсетях.</a:t>
            </a:r>
          </a:p>
          <a:p>
            <a:r>
              <a:rPr lang="ru-RU" dirty="0"/>
              <a:t>Неизвестно, какой рекламный канал (блогер, соцсети или QR) приносит реальных клиентов.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6492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21AA5-CCCD-2889-B85B-23DC7490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Как мы это решили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A98EFA-2B53-5C43-46F7-3BD9205B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3380"/>
            <a:ext cx="8876071" cy="66595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Автоматизация сбора заявок и сквозная аналитика.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5FE82E-8ED1-FB36-4A6C-D7982E4B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7"/>
            <a:ext cx="10421187" cy="13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4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BCC18-111C-30DC-F21B-50536532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268122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Разработка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B8B6C-6F1A-BF7C-F9A4-D06125B34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78" y="1593685"/>
            <a:ext cx="5090652" cy="4351338"/>
          </a:xfrm>
        </p:spPr>
        <p:txBody>
          <a:bodyPr/>
          <a:lstStyle/>
          <a:p>
            <a:r>
              <a:rPr lang="ru-RU" dirty="0"/>
              <a:t>11 страниц + страница 404.</a:t>
            </a:r>
          </a:p>
          <a:p>
            <a:r>
              <a:rPr lang="ru-RU" dirty="0"/>
              <a:t>Адаптивный дизайн (телефоны, планшеты, ПК).</a:t>
            </a:r>
          </a:p>
          <a:p>
            <a:r>
              <a:rPr lang="ru-RU" dirty="0"/>
              <a:t>Хостинг: </a:t>
            </a:r>
            <a:r>
              <a:rPr lang="ru-RU" dirty="0" err="1"/>
              <a:t>Vercel</a:t>
            </a:r>
            <a:r>
              <a:rPr lang="ru-RU" dirty="0"/>
              <a:t>.</a:t>
            </a:r>
          </a:p>
          <a:p>
            <a:r>
              <a:rPr lang="ru-RU" dirty="0"/>
              <a:t>Встроенный тест для выбора направления.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8902BA-8F85-018F-A63F-7A998390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2" y="1593685"/>
            <a:ext cx="5714671" cy="22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0D163-035A-9E2E-79AD-87E0637F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Сбор заявок (Google Таблицы)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E1EFF5-9A9F-B8DB-028E-7629443DC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981" y="1815792"/>
            <a:ext cx="5169310" cy="484064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dirty="0"/>
              <a:t>Форма на сайте передает данные в Google </a:t>
            </a:r>
            <a:r>
              <a:rPr lang="ru-RU" dirty="0" err="1"/>
              <a:t>Apps</a:t>
            </a:r>
            <a:r>
              <a:rPr lang="ru-RU" dirty="0"/>
              <a:t> </a:t>
            </a:r>
            <a:r>
              <a:rPr lang="ru-RU" dirty="0" err="1"/>
              <a:t>Script</a:t>
            </a:r>
            <a:r>
              <a:rPr lang="ru-RU" dirty="0"/>
              <a:t>.</a:t>
            </a:r>
          </a:p>
          <a:p>
            <a:pPr>
              <a:lnSpc>
                <a:spcPct val="110000"/>
              </a:lnSpc>
            </a:pPr>
            <a:r>
              <a:rPr lang="ru-RU" dirty="0"/>
              <a:t>Данные сохраняются в таблицу со статусом </a:t>
            </a:r>
            <a:r>
              <a:rPr lang="ru-RU" dirty="0" err="1"/>
              <a:t>new</a:t>
            </a:r>
            <a:r>
              <a:rPr lang="ru-RU" dirty="0"/>
              <a:t>.</a:t>
            </a:r>
          </a:p>
          <a:p>
            <a:pPr>
              <a:lnSpc>
                <a:spcPct val="110000"/>
              </a:lnSpc>
            </a:pPr>
            <a:r>
              <a:rPr lang="ru-RU" dirty="0"/>
              <a:t>Настроены выпадающие списки и условное форматирование (защита от дублей и пустых полей).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E3F133-B9AE-553D-7636-37F413DB7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15112"/>
            <a:ext cx="4827223" cy="297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20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7D310-1B98-DED8-B2E5-D5113311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Автоответы для клиентов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C8145B-9E1B-DE3A-C323-B51FFEC5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853099"/>
            <a:ext cx="5415116" cy="5239544"/>
          </a:xfrm>
        </p:spPr>
        <p:txBody>
          <a:bodyPr/>
          <a:lstStyle/>
          <a:p>
            <a:r>
              <a:rPr lang="ru-RU" dirty="0"/>
              <a:t>Из-за блокировок </a:t>
            </a:r>
            <a:r>
              <a:rPr lang="ru-RU" dirty="0" err="1"/>
              <a:t>Meta</a:t>
            </a:r>
            <a:r>
              <a:rPr lang="ru-RU" dirty="0"/>
              <a:t> (Instagram) настроена интеграция через </a:t>
            </a:r>
            <a:r>
              <a:rPr lang="ru-RU" dirty="0" err="1"/>
              <a:t>Telegram</a:t>
            </a:r>
            <a:r>
              <a:rPr lang="ru-RU" dirty="0"/>
              <a:t>.</a:t>
            </a:r>
          </a:p>
          <a:p>
            <a:r>
              <a:rPr lang="ru-RU" dirty="0"/>
              <a:t>Бот в </a:t>
            </a:r>
            <a:r>
              <a:rPr lang="ru-RU" dirty="0" err="1"/>
              <a:t>ManyChat</a:t>
            </a:r>
            <a:r>
              <a:rPr lang="ru-RU" dirty="0"/>
              <a:t> автоматически отвечает на команду /</a:t>
            </a:r>
            <a:r>
              <a:rPr lang="ru-RU" dirty="0" err="1"/>
              <a:t>start</a:t>
            </a:r>
            <a:r>
              <a:rPr lang="ru-RU" dirty="0"/>
              <a:t>.</a:t>
            </a:r>
          </a:p>
          <a:p>
            <a:r>
              <a:rPr lang="ru-RU" dirty="0"/>
              <a:t>Клиент получает кнопку «Записаться» с UTM-метками.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7E889B-03E8-8BD3-2728-F1AD9659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065" y="1316038"/>
            <a:ext cx="4538735" cy="490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2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FE23-975C-19B3-BDB5-4CA1B024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25329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Google Analytics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5B11E-FFB0-A91B-3D63-3E16312B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9444"/>
            <a:ext cx="10515600" cy="2618556"/>
          </a:xfrm>
        </p:spPr>
        <p:txBody>
          <a:bodyPr/>
          <a:lstStyle/>
          <a:p>
            <a:r>
              <a:rPr lang="ru-RU" dirty="0"/>
              <a:t>Установлен тег gtag.js на всех страницах.</a:t>
            </a:r>
          </a:p>
          <a:p>
            <a:r>
              <a:rPr lang="ru-RU" dirty="0"/>
              <a:t>Настроено 18 событий.</a:t>
            </a:r>
          </a:p>
          <a:p>
            <a:r>
              <a:rPr lang="ru-RU" dirty="0"/>
              <a:t>Ключевые события: </a:t>
            </a:r>
            <a:r>
              <a:rPr lang="ru-RU" dirty="0" err="1"/>
              <a:t>generate_lead</a:t>
            </a:r>
            <a:r>
              <a:rPr lang="ru-RU" dirty="0"/>
              <a:t> (отправка формы), </a:t>
            </a:r>
            <a:r>
              <a:rPr lang="ru-RU" dirty="0" err="1"/>
              <a:t>cta_click</a:t>
            </a:r>
            <a:r>
              <a:rPr lang="ru-RU" dirty="0"/>
              <a:t> (клики по кнопкам), </a:t>
            </a:r>
            <a:r>
              <a:rPr lang="ru-RU" dirty="0" err="1"/>
              <a:t>social_click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D14989-643F-8982-5B5A-ECA4A2C0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95253"/>
            <a:ext cx="5932940" cy="288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9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C0C0-874D-7168-189E-AB47DBDE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pPr lvl="0"/>
            <a:br>
              <a:rPr lang="ru-RU" dirty="0"/>
            </a:br>
            <a:r>
              <a:rPr lang="ru-RU" dirty="0">
                <a:solidFill>
                  <a:srgbClr val="BE235A"/>
                </a:solidFill>
              </a:rPr>
              <a:t>Отслеживание источников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EEC53-96FE-823A-70F2-DD556417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343818"/>
            <a:ext cx="10515600" cy="1890995"/>
          </a:xfrm>
        </p:spPr>
        <p:txBody>
          <a:bodyPr/>
          <a:lstStyle/>
          <a:p>
            <a:r>
              <a:rPr lang="ru-RU" dirty="0"/>
              <a:t>Настроена передача UTM-меток (например, </a:t>
            </a:r>
            <a:r>
              <a:rPr lang="ru-RU" dirty="0" err="1"/>
              <a:t>utm_source</a:t>
            </a:r>
            <a:r>
              <a:rPr lang="ru-RU" dirty="0"/>
              <a:t>=</a:t>
            </a:r>
            <a:r>
              <a:rPr lang="ru-RU" dirty="0" err="1"/>
              <a:t>telegram</a:t>
            </a:r>
            <a:r>
              <a:rPr lang="ru-RU" dirty="0"/>
              <a:t>).</a:t>
            </a:r>
          </a:p>
          <a:p>
            <a:r>
              <a:rPr lang="ru-RU" dirty="0"/>
              <a:t>Метки сохраняются в таблице вместе с заявкой.</a:t>
            </a:r>
          </a:p>
          <a:p>
            <a:r>
              <a:rPr lang="ru-RU" dirty="0"/>
              <a:t>В GA4 настроена воронка шагов.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06FFCF-8AD1-446D-C3C8-D1D3E697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6" y="3897594"/>
            <a:ext cx="11761248" cy="202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0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229D7-B2D2-B6BC-A856-E7BB42D7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Работа с клиентами в CRM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6EF8A-1F5A-A0C3-8F65-98615B318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690688"/>
            <a:ext cx="10515600" cy="1947504"/>
          </a:xfrm>
        </p:spPr>
        <p:txBody>
          <a:bodyPr/>
          <a:lstStyle/>
          <a:p>
            <a:r>
              <a:rPr lang="ru-RU" dirty="0"/>
              <a:t>Настроена воронка сделок «Ритм Холл · Ученики».</a:t>
            </a:r>
          </a:p>
          <a:p>
            <a:r>
              <a:rPr lang="ru-RU" dirty="0"/>
              <a:t>Данные из таблицы импортируются в </a:t>
            </a:r>
            <a:r>
              <a:rPr lang="ru-RU" dirty="0" err="1"/>
              <a:t>HubSpot</a:t>
            </a:r>
            <a:r>
              <a:rPr lang="ru-RU" dirty="0"/>
              <a:t>.</a:t>
            </a:r>
          </a:p>
          <a:p>
            <a:r>
              <a:rPr lang="ru-RU" dirty="0"/>
              <a:t>Менеджер ведет клиента от заявки до покупки.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EE075E-972D-8958-A365-5025992B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98" y="3638192"/>
            <a:ext cx="11031489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4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D1604-2F7D-D1D0-4C3A-29A2AB9E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Результат для «Ритм Холл»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2BB7619-CDB0-DC6D-F61A-726A06DB8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131403"/>
              </p:ext>
            </p:extLst>
          </p:nvPr>
        </p:nvGraphicFramePr>
        <p:xfrm>
          <a:off x="838200" y="1690688"/>
          <a:ext cx="10515600" cy="402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955650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12601733"/>
                    </a:ext>
                  </a:extLst>
                </a:gridCol>
              </a:tblGrid>
              <a:tr h="793115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Было </a:t>
                      </a:r>
                    </a:p>
                  </a:txBody>
                  <a:tcPr>
                    <a:solidFill>
                      <a:srgbClr val="E030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Стало</a:t>
                      </a:r>
                    </a:p>
                  </a:txBody>
                  <a:tcPr>
                    <a:solidFill>
                      <a:srgbClr val="E03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348067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Заявки в телефоне и переписках.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Заявка с сайта в одной таблице со статусом.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21598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Источник клиента неизвестен.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 заявки есть канал и UTM-метки.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21710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65 000 ₽ в месяц без отчета.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Сеансы и заявки по каналам в одном отчете.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297140"/>
                  </a:ext>
                </a:extLst>
              </a:tr>
              <a:tr h="793115"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Ручные ответы администраторов.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Автоматический бот в </a:t>
                      </a:r>
                      <a:r>
                        <a:rPr lang="ru-RU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37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81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E813F-A603-662D-2A00-1B7AEFDB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DD499-6080-A484-6764-02DCE390C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sz="3200" b="1" dirty="0"/>
              <a:t>Успехи:</a:t>
            </a:r>
            <a:r>
              <a:rPr lang="ru-RU" sz="3200" dirty="0"/>
              <a:t> Сайт, аналитика, таблицы, CRM и бот работают в связке.</a:t>
            </a:r>
          </a:p>
          <a:p>
            <a:pPr>
              <a:lnSpc>
                <a:spcPct val="150000"/>
              </a:lnSpc>
            </a:pPr>
            <a:r>
              <a:rPr lang="ru-RU" sz="3200" b="1" dirty="0"/>
              <a:t>Сложности:</a:t>
            </a:r>
            <a:r>
              <a:rPr lang="ru-RU" sz="3200" dirty="0"/>
              <a:t> Блокировки </a:t>
            </a:r>
            <a:r>
              <a:rPr lang="ru-RU" sz="3200" dirty="0" err="1"/>
              <a:t>Meta</a:t>
            </a:r>
            <a:r>
              <a:rPr lang="ru-RU" sz="3200" dirty="0"/>
              <a:t> (Instagram). Решено заменой на </a:t>
            </a:r>
            <a:r>
              <a:rPr lang="ru-RU" sz="3200" dirty="0" err="1"/>
              <a:t>Telegram</a:t>
            </a:r>
            <a:r>
              <a:rPr lang="ru-RU" sz="3200" dirty="0"/>
              <a:t>-бота.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85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B3CB3-3A51-2756-960D-140B980C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BE235A"/>
                </a:solidFill>
              </a:rPr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F7E9C-6FBB-9D33-AF6B-9969237EC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15433"/>
          </a:xfrm>
        </p:spPr>
        <p:txBody>
          <a:bodyPr/>
          <a:lstStyle/>
          <a:p>
            <a:r>
              <a:rPr lang="ru-RU" b="1" dirty="0"/>
              <a:t>Сайт:</a:t>
            </a:r>
            <a:r>
              <a:rPr lang="ru-RU" dirty="0"/>
              <a:t> </a:t>
            </a:r>
            <a:r>
              <a:rPr lang="ru-RU" dirty="0">
                <a:hlinkClick r:id="rId3"/>
              </a:rPr>
              <a:t>https://tz-19-shkola-tancev-ritm-holl-liart.vercel.app/</a:t>
            </a:r>
            <a:endParaRPr lang="ru-RU" dirty="0"/>
          </a:p>
          <a:p>
            <a:r>
              <a:rPr lang="ru-RU" b="1" dirty="0" err="1"/>
              <a:t>GitHub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>
                <a:hlinkClick r:id="rId4"/>
              </a:rPr>
              <a:t>https://github.com/GrinkoMaria/tz-19-shkola-tancev-ritm-holl</a:t>
            </a:r>
            <a:endParaRPr lang="ru-RU" dirty="0"/>
          </a:p>
          <a:p>
            <a:r>
              <a:rPr lang="ru-RU" b="1" dirty="0"/>
              <a:t>Бот в </a:t>
            </a:r>
            <a:r>
              <a:rPr lang="ru-RU" b="1" dirty="0" err="1"/>
              <a:t>Telegram</a:t>
            </a:r>
            <a:r>
              <a:rPr lang="ru-RU" b="1" dirty="0"/>
              <a:t>:</a:t>
            </a:r>
            <a:r>
              <a:rPr lang="ru-RU" dirty="0"/>
              <a:t> @RitmHall_Test_bot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3599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400</Words>
  <Application>Microsoft Office PowerPoint</Application>
  <PresentationFormat>Широкоэкранный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Сайт и сквозная аналитика записей для школы танцев «Ритм Холл»</vt:lpstr>
      <vt:lpstr>С чем столкнулась школа?</vt:lpstr>
      <vt:lpstr>Как мы это решили</vt:lpstr>
      <vt:lpstr>Разработка сайта</vt:lpstr>
      <vt:lpstr>Сбор заявок (Google Таблицы)</vt:lpstr>
      <vt:lpstr>Автоответы для клиентов </vt:lpstr>
      <vt:lpstr>Google Analytics 4</vt:lpstr>
      <vt:lpstr> Отслеживание источников   </vt:lpstr>
      <vt:lpstr>Работа с клиентами в CRM</vt:lpstr>
      <vt:lpstr>Результат для «Ритм Холл»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Гринько</dc:creator>
  <cp:lastModifiedBy>Алексей Гринько</cp:lastModifiedBy>
  <cp:revision>1</cp:revision>
  <dcterms:created xsi:type="dcterms:W3CDTF">2026-10-30T08:10:56Z</dcterms:created>
  <dcterms:modified xsi:type="dcterms:W3CDTF">2026-10-30T08:40:48Z</dcterms:modified>
</cp:coreProperties>
</file>